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372f0d5c9b419c" /><Relationship Type="http://schemas.openxmlformats.org/officeDocument/2006/relationships/extended-properties" Target="/docProps/app.xml" Id="R30588e4ae956444b" /><Relationship Type="http://schemas.openxmlformats.org/officeDocument/2006/relationships/officeDocument" Target="/ppt/presentation.xml" Id="R11cb84ed91e141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4303de19df4305"/>
  </p:sldMasterIdLst>
  <p:notesMasterIdLst>
    <p:notesMasterId xmlns:r="http://schemas.openxmlformats.org/officeDocument/2006/relationships" r:id="R18141ca1b2db425b"/>
  </p:notesMasterIdLst>
  <p:sldIdLst>
    <p:sldId xmlns:r="http://schemas.openxmlformats.org/officeDocument/2006/relationships" id="256" r:id="Rae3cdb64329b4a93"/>
    <p:sldId xmlns:r="http://schemas.openxmlformats.org/officeDocument/2006/relationships" id="257" r:id="R7c67422f89ca4cf4"/>
    <p:sldId xmlns:r="http://schemas.openxmlformats.org/officeDocument/2006/relationships" id="258" r:id="Re14b487c400c45c9"/>
    <p:sldId xmlns:r="http://schemas.openxmlformats.org/officeDocument/2006/relationships" id="259" r:id="R00c2048a6b5e4883"/>
    <p:sldId xmlns:r="http://schemas.openxmlformats.org/officeDocument/2006/relationships" id="260" r:id="R2858bab5d8b44e01"/>
    <p:sldId xmlns:r="http://schemas.openxmlformats.org/officeDocument/2006/relationships" id="261" r:id="R20bd0b90c7c14ac2"/>
    <p:sldId xmlns:r="http://schemas.openxmlformats.org/officeDocument/2006/relationships" id="262" r:id="R2201b866502c491e"/>
    <p:sldId xmlns:r="http://schemas.openxmlformats.org/officeDocument/2006/relationships" id="263" r:id="R0114fb669f534734"/>
    <p:sldId xmlns:r="http://schemas.openxmlformats.org/officeDocument/2006/relationships" id="264" r:id="R5ab27cbda1c24d2e"/>
    <p:sldId xmlns:r="http://schemas.openxmlformats.org/officeDocument/2006/relationships" id="265" r:id="Rc762f9e3db6f4348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303de19df4305" /><Relationship Type="http://schemas.openxmlformats.org/officeDocument/2006/relationships/theme" Target="/ppt/theme/theme1.xml" Id="R477b84d0c7b94410" /><Relationship Type="http://schemas.openxmlformats.org/officeDocument/2006/relationships/notesMaster" Target="/ppt/notesMasters/notesMaster1.xml" Id="R18141ca1b2db425b" /><Relationship Type="http://schemas.openxmlformats.org/officeDocument/2006/relationships/presProps" Target="/ppt/presProps.xml" Id="R9cabece12aff4926" /><Relationship Type="http://schemas.openxmlformats.org/officeDocument/2006/relationships/viewProps" Target="/ppt/viewProps.xml" Id="R180ed28023e04cc4" /><Relationship Type="http://schemas.openxmlformats.org/officeDocument/2006/relationships/tableStyles" Target="/ppt/tableStyles.xml" Id="Rb1b784edaed34bac" /><Relationship Type="http://schemas.openxmlformats.org/officeDocument/2006/relationships/slide" Target="/ppt/slides/slide1.xml" Id="Rae3cdb64329b4a93" /><Relationship Type="http://schemas.openxmlformats.org/officeDocument/2006/relationships/slide" Target="/ppt/slides/slide2.xml" Id="R7c67422f89ca4cf4" /><Relationship Type="http://schemas.openxmlformats.org/officeDocument/2006/relationships/slide" Target="/ppt/slides/slide3.xml" Id="Re14b487c400c45c9" /><Relationship Type="http://schemas.openxmlformats.org/officeDocument/2006/relationships/slide" Target="/ppt/slides/slide4.xml" Id="R00c2048a6b5e4883" /><Relationship Type="http://schemas.openxmlformats.org/officeDocument/2006/relationships/slide" Target="/ppt/slides/slide5.xml" Id="R2858bab5d8b44e01" /><Relationship Type="http://schemas.openxmlformats.org/officeDocument/2006/relationships/slide" Target="/ppt/slides/slide6.xml" Id="R20bd0b90c7c14ac2" /><Relationship Type="http://schemas.openxmlformats.org/officeDocument/2006/relationships/slide" Target="/ppt/slides/slide7.xml" Id="R2201b866502c491e" /><Relationship Type="http://schemas.openxmlformats.org/officeDocument/2006/relationships/slide" Target="/ppt/slides/slide8.xml" Id="R0114fb669f534734" /><Relationship Type="http://schemas.openxmlformats.org/officeDocument/2006/relationships/slide" Target="/ppt/slides/slide9.xml" Id="R5ab27cbda1c24d2e" /><Relationship Type="http://schemas.openxmlformats.org/officeDocument/2006/relationships/slide" Target="/ppt/slides/slide10.xml" Id="Rc762f9e3db6f43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d4e5b0745384f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4b9b8a4f3343e6" /><Relationship Type="http://schemas.openxmlformats.org/officeDocument/2006/relationships/notesMaster" Target="/ppt/notesMasters/notesMaster1.xml" Id="R7c54edbcfd874e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d4eb949066465d" /><Relationship Type="http://schemas.openxmlformats.org/officeDocument/2006/relationships/notesMaster" Target="/ppt/notesMasters/notesMaster1.xml" Id="R3bbe99d96d8342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5986cafd334489" /><Relationship Type="http://schemas.openxmlformats.org/officeDocument/2006/relationships/notesMaster" Target="/ppt/notesMasters/notesMaster1.xml" Id="Ra74842cc5c534d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3b7df614ed44ff" /><Relationship Type="http://schemas.openxmlformats.org/officeDocument/2006/relationships/notesMaster" Target="/ppt/notesMasters/notesMaster1.xml" Id="R3b0738fc816341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f98df194a0477f" /><Relationship Type="http://schemas.openxmlformats.org/officeDocument/2006/relationships/notesMaster" Target="/ppt/notesMasters/notesMaster1.xml" Id="R460e86b6091748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728675101b4151" /><Relationship Type="http://schemas.openxmlformats.org/officeDocument/2006/relationships/notesMaster" Target="/ppt/notesMasters/notesMaster1.xml" Id="R7cb88f3d2d8541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5f842e002b41ea" /><Relationship Type="http://schemas.openxmlformats.org/officeDocument/2006/relationships/notesMaster" Target="/ppt/notesMasters/notesMaster1.xml" Id="R645a43e6a8a140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d8a0422f354024" /><Relationship Type="http://schemas.openxmlformats.org/officeDocument/2006/relationships/notesMaster" Target="/ppt/notesMasters/notesMaster1.xml" Id="Ra18d1e8b77ff45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0f1ddffd39429e" /><Relationship Type="http://schemas.openxmlformats.org/officeDocument/2006/relationships/notesMaster" Target="/ppt/notesMasters/notesMaster1.xml" Id="R7e675e51ece948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291a8acc9541d4" /><Relationship Type="http://schemas.openxmlformats.org/officeDocument/2006/relationships/notesMaster" Target="/ppt/notesMasters/notesMaster1.xml" Id="Rdb742852ffa641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74e6f8140443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58548ea80514e55" /><Relationship Type="http://schemas.openxmlformats.org/officeDocument/2006/relationships/slideLayout" Target="/ppt/slideLayouts/slideLayout2.xml" Id="R731e682a0f5b47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1e682a0f5b47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941704c33f4eb6" /><Relationship Type="http://schemas.openxmlformats.org/officeDocument/2006/relationships/notesSlide" Target="/ppt/notesSlides/notesSlide1.xml" Id="R4ee08ad10da141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8e544a91fb4b96" /><Relationship Type="http://schemas.openxmlformats.org/officeDocument/2006/relationships/notesSlide" Target="/ppt/notesSlides/notesSlide2.xml" Id="Rdf0f72fc046b42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404064667145ff" /><Relationship Type="http://schemas.openxmlformats.org/officeDocument/2006/relationships/notesSlide" Target="/ppt/notesSlides/notesSlide3.xml" Id="R957b0d7d3b8843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ee57946c394e69" /><Relationship Type="http://schemas.openxmlformats.org/officeDocument/2006/relationships/notesSlide" Target="/ppt/notesSlides/notesSlide4.xml" Id="Re54ef7ae248141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f2e254589240d4" /><Relationship Type="http://schemas.openxmlformats.org/officeDocument/2006/relationships/notesSlide" Target="/ppt/notesSlides/notesSlide5.xml" Id="R8a5c978ba29c48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171f2b57954fde" /><Relationship Type="http://schemas.openxmlformats.org/officeDocument/2006/relationships/notesSlide" Target="/ppt/notesSlides/notesSlide6.xml" Id="Rc58cae9ecb7144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527a30536d4a55" /><Relationship Type="http://schemas.openxmlformats.org/officeDocument/2006/relationships/notesSlide" Target="/ppt/notesSlides/notesSlide7.xml" Id="R9ddd3dde683940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dfc22eda8a4e98" /><Relationship Type="http://schemas.openxmlformats.org/officeDocument/2006/relationships/notesSlide" Target="/ppt/notesSlides/notesSlide8.xml" Id="R3f423e6dde0a4d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ae7aa4ac0e48e9" /><Relationship Type="http://schemas.openxmlformats.org/officeDocument/2006/relationships/notesSlide" Target="/ppt/notesSlides/notesSlide9.xml" Id="R05a5fa82e6ca45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f5d271bfb44577" /><Relationship Type="http://schemas.openxmlformats.org/officeDocument/2006/relationships/notesSlide" Target="/ppt/notesSlides/notesSlide10.xml" Id="Rfc3b9222105e40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7FACAD-9F4C-49F5-8EEE-E21E521D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D7ABD-D2C6-45EC-8ADD-BA8CA99E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35242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A46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A5B59-6D76-4913-B615-1691E00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85800"/>
            <a:ext cx="2190750" cy="3714750"/>
          </a:xfrm>
          <a:prstGeom xmlns:a="http://schemas.openxmlformats.org/drawingml/2006/main" prst="roundRect">
            <a:avLst>
              <a:gd name="adj" fmla="val 11304"/>
            </a:avLst>
          </a:prstGeom>
          <a:solidFill xmlns:a="http://schemas.openxmlformats.org/drawingml/2006/main">
            <a:srgbClr val="0B1117"/>
          </a:solidFill>
          <a:ln xmlns:a="http://schemas.openxmlformats.org/drawingml/2006/main" w="9525">
            <a:solidFill>
              <a:srgbClr val="3152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CC7C4-39BB-49F6-BFA4-3E58668E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95375"/>
            <a:ext cx="1619250" cy="2190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5C87A-C15C-4694-A452-1C20D19F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04950"/>
            <a:ext cx="123825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DD7EF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4A332-234D-4A5A-8F36-E7D1C25E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10668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DD7EF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7335F-240A-4420-A1A9-4FCD461F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12573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DD7EF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3F9BD-8AF5-4430-9E1C-BE21D51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4287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A5A2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4EE3C-C880-451D-92F3-6DA2CF14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004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Bản dịch tiếng Việt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09D79-D038-4662-8C4F-B633C250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AR LECTURE ASSISTANT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5EBF9-22A6-43D5-9DD3-0DA3354B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2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Dịch bài giảng thời gian thực bằng 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2BAEE-5F9E-4E63-AEA2-70126719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2200000"/>
              </a:lnSpc>
              <a:buNone/>
              <a:defRPr sz="1275">
                <a:solidFill>
                  <a:srgbClr val="C8D5D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C8D5DF"/>
                </a:solidFill>
                <a:latin typeface="Aptos"/>
                <a:ea typeface="Aptos"/>
                <a:cs typeface="Aptos"/>
              </a:rPr>
              <a:t>Unity + ARCore nhận diện mặt phẳng, Flask xử lý OCR/dịch, và overlay tiếng Việt được neo trực tiếp lên slide hoặc bảng trong không gian thật.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20985-5001-49D8-97AC-1FDC128F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9525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EEAD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398E1-1051-4BDA-8C52-691C62EF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480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MVP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6CF00-0B3E-42FB-9F1B-31C8C004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00400"/>
            <a:ext cx="10287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C5F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63320-67AF-4B3C-BC41-4680D246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480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Android 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8C12B-5142-4A10-8E68-8861C047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00400"/>
            <a:ext cx="12954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BBF2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BDA48-D795-45D4-89EF-5BCFB3CB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480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OCR + Translate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D204A-E45B-4CC9-9E58-686178D4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8FA4B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8FA4B3"/>
                </a:solidFill>
                <a:latin typeface="Aptos"/>
                <a:ea typeface="Aptos"/>
                <a:cs typeface="Aptos"/>
              </a:rPr>
              <a:t>Nguồn: repo main và kế hoạch triển khai nhóm</a:t>
            </a:r>
          </a:p>
        </p:txBody>
      </p:sp>
    </p:spTree>
    <p:extLst>
      <p:ext uri="{BB962C8B-B14F-4D97-AF65-F5344CB8AC3E}">
        <p14:creationId xmlns:p14="http://schemas.microsoft.com/office/powerpoint/2010/main" val="4153639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98DA73-8D4F-4D19-B058-594B05D9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9EEFE-D11A-4F29-87C2-536732A0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BỐI CẢNH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B3204-0836-4E7D-A1AE-2475702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Sinh viên cần hiểu nhanh nội dung slide/bảng tiếng Anh ngay trong lớp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265BA-FD3A-44B4-876B-D22E4461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2000000"/>
              </a:lnSpc>
              <a:buNone/>
              <a:defRPr sz="11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657383"/>
                </a:solidFill>
                <a:latin typeface="Aptos"/>
                <a:ea typeface="Aptos"/>
                <a:cs typeface="Aptos"/>
              </a:rPr>
              <a:t>Vấn đề không chỉ là dịch văn bản, mà là đặt bản dịch đúng vị trí, đúng ngữ cảnh và đủ nhanh để theo kịp bài giảng.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A898F-3042-463F-8D3A-B8AD9298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57383"/>
                </a:solidFill>
                <a:latin typeface="Aptos"/>
                <a:ea typeface="Aptos"/>
                <a:cs typeface="Aptos"/>
              </a:rPr>
              <a:t>AR Lecture Assistant | Unity + Flask + ARCore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0FFC4-BD43-4ED7-B618-712F21F1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815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623D7-FC21-423A-A443-9B68DDA0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3E679-A07C-45E8-9961-D93C3838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Nội dung bài giảng thay đổi liên tục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5F354-5CBB-4446-BF78-83BA4E25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800000"/>
              </a:lnSpc>
              <a:buNone/>
              <a:defRPr sz="97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57383"/>
                </a:solidFill>
                <a:latin typeface="Aptos"/>
                <a:ea typeface="Aptos"/>
                <a:cs typeface="Aptos"/>
              </a:rPr>
              <a:t>Slide, bảng và công thức xuất hiện theo thời gian thực; việc chụp ảnh rồi dịch thủ công làm mất nhịp học.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D20AD-B0EB-4A75-83B7-BE63F201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7A3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28F52-5D4E-40AE-8C4B-08D51D3D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Dịch rời khỏi ngữ cảnh gây khó theo dõi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077A1-95A0-4EDB-A4BA-302D94B2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62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800000"/>
              </a:lnSpc>
              <a:buNone/>
              <a:defRPr sz="97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57383"/>
                </a:solidFill>
                <a:latin typeface="Aptos"/>
                <a:ea typeface="Aptos"/>
                <a:cs typeface="Aptos"/>
              </a:rPr>
              <a:t>Khi bản dịch nằm ở app khác, người học phải đối chiếu lại vị trí dòng chữ trên slide/bảng.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99153-4731-443A-86D2-2ECB7E6D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E5332-A36C-4E34-B28A-33C03832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Công thức và thuật ngữ dễ bị phá vỡ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31E98-BCA2-435B-8623-EC1369DF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800000"/>
              </a:lnSpc>
              <a:buNone/>
              <a:defRPr sz="97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57383"/>
                </a:solidFill>
                <a:latin typeface="Aptos"/>
                <a:ea typeface="Aptos"/>
                <a:cs typeface="Aptos"/>
              </a:rPr>
              <a:t>Pipeline cần giữ nguyên công thức toán, glossary AI/ML và cấu trúc block OCR để label vẫn đọc được.</a:t>
            </a:r>
          </a:p>
        </p:txBody>
      </p:sp>
    </p:spTree>
    <p:extLst>
      <p:ext uri="{BB962C8B-B14F-4D97-AF65-F5344CB8AC3E}">
        <p14:creationId xmlns:p14="http://schemas.microsoft.com/office/powerpoint/2010/main" val="19021181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084D31-82A5-4FE6-AF6A-BFE35D9E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300FF-15E3-4374-A219-37F16B0F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GIẢI PHÁP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5E30B-85F6-4C90-A8B9-D7FE1185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Overlay bản dịch lên đúng mặt phẳng bài giảng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42F2C-EEEF-4EBD-8F26-4EBC41C8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2000000"/>
              </a:lnSpc>
              <a:buNone/>
              <a:defRPr sz="11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657383"/>
                </a:solidFill>
                <a:latin typeface="Aptos"/>
                <a:ea typeface="Aptos"/>
                <a:cs typeface="Aptos"/>
              </a:rPr>
              <a:t>App quét plane bằng ARCore, chụp frame, gửi backend xử lý, rồi neo label tiếng Việt lên bbox OCR trong không gian thật.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3EC93-826B-429F-92B6-916CA328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57383"/>
                </a:solidFill>
                <a:latin typeface="Aptos"/>
                <a:ea typeface="Aptos"/>
                <a:cs typeface="Aptos"/>
              </a:rPr>
              <a:t>AR Lecture Assistant | Unity + Flask + ARCore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E2F99-344D-48D9-9C67-F62526EB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815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F6CB0-24B8-4414-977A-C97D11B9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7810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E2498-D6C2-4284-AAA4-AA31A400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2905125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F0794-6BCA-43F8-BBD7-4A2F9D54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7383"/>
                </a:solidFill>
                <a:latin typeface="Aptos"/>
                <a:ea typeface="Aptos"/>
                <a:cs typeface="Aptos"/>
              </a:rPr>
              <a:t>Lecture slide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A76BA-04B6-40FE-8530-0D957A50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1431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9C9D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57250-32C0-4D06-BB62-A1EB7B71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180975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9C9D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4907D-E02C-4DF1-BFA3-1A92E447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14287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F2159-0841-4D9B-B48C-76C39309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14725"/>
            <a:ext cx="125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9A4B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4B00"/>
                </a:solidFill>
                <a:latin typeface="Aptos"/>
                <a:ea typeface="Aptos"/>
                <a:cs typeface="Aptos"/>
              </a:rPr>
              <a:t>Bản dịch neo tại đây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0CBF7-2BB8-4BCE-987D-80BC9E16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37285-F3E6-462D-B108-E8CC8090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Scan mặt phẳng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5CFA2-D1CF-421E-89D3-3BA588A7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765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912B8-A6DD-4DE9-9543-5D8EE968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95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OCR + dịch Anh → Việt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7C2C2-2A71-448F-B90E-49E5BEA8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48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76846-DF88-4B63-A8EA-60D5F55B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67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Ghim label lên AR plane</a:t>
            </a:r>
          </a:p>
        </p:txBody>
      </p:sp>
    </p:spTree>
    <p:extLst>
      <p:ext uri="{BB962C8B-B14F-4D97-AF65-F5344CB8AC3E}">
        <p14:creationId xmlns:p14="http://schemas.microsoft.com/office/powerpoint/2010/main" val="4284848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147E5B-9507-4D3D-9CE3-E39F7B42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2B6FE-4209-44C6-9891-5BB3C1DB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KIẾN TRÚC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A69FA-FFA1-45A1-958F-8DF1E512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Pipeline tách module để nhóm phát triển song song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E1205-724D-44E3-A7BC-F7E24338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2000000"/>
              </a:lnSpc>
              <a:buNone/>
              <a:defRPr sz="11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657383"/>
                </a:solidFill>
                <a:latin typeface="Aptos"/>
                <a:ea typeface="Aptos"/>
                <a:cs typeface="Aptos"/>
              </a:rPr>
              <a:t>Unity client, backend Flask, OCR, formula masking và translation giao tiếp qua JSON contract ổn định.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2FBF6-4C83-4745-B32C-0DBE16F9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57383"/>
                </a:solidFill>
                <a:latin typeface="Aptos"/>
                <a:ea typeface="Aptos"/>
                <a:cs typeface="Aptos"/>
              </a:rPr>
              <a:t>AR Lecture Assistant | Unity + Flask + ARCore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41993-908F-43FA-9D7B-E0916D2C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815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2F761-4FA9-4514-BC1C-4798B443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33625"/>
            <a:ext cx="12192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89B91-59DA-4576-8172-B2AB186B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479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Camera 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C057B-CCDD-4319-A0FA-9BEEE320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71775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1500000"/>
              </a:lnSpc>
              <a:buNone/>
              <a:defRPr sz="8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57383"/>
                </a:solidFill>
                <a:latin typeface="Aptos"/>
                <a:ea typeface="Aptos"/>
                <a:cs typeface="Aptos"/>
              </a:rPr>
              <a:t>Capture frame</a:t>
            </a:r>
          </a:p>
          <a:p xmlns:a="http://schemas.openxmlformats.org/drawingml/2006/main">
            <a:pPr algn="ctr">
              <a:lnSpc>
                <a:spcPct val="11500000"/>
              </a:lnSpc>
              <a:buNone/>
              <a:defRPr sz="8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57383"/>
                </a:solidFill>
                <a:latin typeface="Aptos"/>
                <a:ea typeface="Aptos"/>
                <a:cs typeface="Aptos"/>
              </a:rPr>
              <a:t>Plane + bbox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A596E-D222-4A01-AB56-A1481E90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47975"/>
            <a:ext cx="152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53EC2-13FA-4214-A1F5-27D2C002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00350"/>
            <a:ext cx="1333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CADE2-D318-450A-AA48-0CFE5BF9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33625"/>
            <a:ext cx="12192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A7A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AC552-2936-4B55-8AFB-1F109F84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4479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Backend Flask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310E6-090F-41F0-8E72-CCABC076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771775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1500000"/>
              </a:lnSpc>
              <a:buNone/>
              <a:defRPr sz="8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57383"/>
                </a:solidFill>
                <a:latin typeface="Aptos"/>
                <a:ea typeface="Aptos"/>
                <a:cs typeface="Aptos"/>
              </a:rPr>
              <a:t>API /pipeline</a:t>
            </a:r>
          </a:p>
          <a:p xmlns:a="http://schemas.openxmlformats.org/drawingml/2006/main">
            <a:pPr algn="ctr">
              <a:lnSpc>
                <a:spcPct val="11500000"/>
              </a:lnSpc>
              <a:buNone/>
              <a:defRPr sz="8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57383"/>
                </a:solidFill>
                <a:latin typeface="Aptos"/>
                <a:ea typeface="Aptos"/>
                <a:cs typeface="Aptos"/>
              </a:rPr>
              <a:t>Mock hoặc real provider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70331-C67E-45D6-9581-87A4F3B5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47975"/>
            <a:ext cx="152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66863-5032-459F-93DC-563096F8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00350"/>
            <a:ext cx="1333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5B68A-0855-4C18-BEB7-01BDB5F2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33625"/>
            <a:ext cx="12192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4B0F4-F69E-4CAA-9B64-85986CB6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479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2530C6-CB93-42BF-8564-39BA1A24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71775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1500000"/>
              </a:lnSpc>
              <a:buNone/>
              <a:defRPr sz="8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57383"/>
                </a:solidFill>
                <a:latin typeface="Aptos"/>
                <a:ea typeface="Aptos"/>
                <a:cs typeface="Aptos"/>
              </a:rPr>
              <a:t>Text + bbox</a:t>
            </a:r>
          </a:p>
          <a:p xmlns:a="http://schemas.openxmlformats.org/drawingml/2006/main">
            <a:pPr algn="ctr">
              <a:lnSpc>
                <a:spcPct val="11500000"/>
              </a:lnSpc>
              <a:buNone/>
              <a:defRPr sz="8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5738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28388-7815-4C76-B028-EE4A628F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47975"/>
            <a:ext cx="152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29BA7-00FB-4B39-8F20-F9C69C2B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00350"/>
            <a:ext cx="1333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F1D3EE-26E1-48F5-B532-C18CD831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33625"/>
            <a:ext cx="12192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B86DC-46CA-43AD-BE34-C1C164C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479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Formula masking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E6229-6545-4E4E-98F1-3D712DCC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71775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1500000"/>
              </a:lnSpc>
              <a:buNone/>
              <a:defRPr sz="8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57383"/>
                </a:solidFill>
                <a:latin typeface="Aptos"/>
                <a:ea typeface="Aptos"/>
                <a:cs typeface="Aptos"/>
              </a:rPr>
              <a:t>Giữ nguyên công thức</a:t>
            </a:r>
          </a:p>
          <a:p xmlns:a="http://schemas.openxmlformats.org/drawingml/2006/main">
            <a:pPr algn="ctr">
              <a:lnSpc>
                <a:spcPct val="11500000"/>
              </a:lnSpc>
              <a:buNone/>
              <a:defRPr sz="8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57383"/>
                </a:solidFill>
                <a:latin typeface="Aptos"/>
                <a:ea typeface="Aptos"/>
                <a:cs typeface="Aptos"/>
              </a:rPr>
              <a:t>Restore sau dịch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BF650-9924-434E-BF8C-20224F0B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47975"/>
            <a:ext cx="152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CA0B79-2453-429D-9188-C5E28400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00350"/>
            <a:ext cx="1333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3BADEA-691C-4244-AB7E-019E209A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12192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A12E32-4E10-49B8-850E-C83FA4B2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Translation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C2AB43-04F8-4A57-B5AA-94890D83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71775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1500000"/>
              </a:lnSpc>
              <a:buNone/>
              <a:defRPr sz="8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57383"/>
                </a:solidFill>
                <a:latin typeface="Aptos"/>
                <a:ea typeface="Aptos"/>
                <a:cs typeface="Aptos"/>
              </a:rPr>
              <a:t>Anh → Việt</a:t>
            </a:r>
          </a:p>
          <a:p xmlns:a="http://schemas.openxmlformats.org/drawingml/2006/main">
            <a:pPr algn="ctr">
              <a:lnSpc>
                <a:spcPct val="11500000"/>
              </a:lnSpc>
              <a:buNone/>
              <a:defRPr sz="8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57383"/>
                </a:solidFill>
                <a:latin typeface="Aptos"/>
                <a:ea typeface="Aptos"/>
                <a:cs typeface="Aptos"/>
              </a:rPr>
              <a:t>Cache / batch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989122-C7DB-4D38-BB5B-A1A7811C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47975"/>
            <a:ext cx="152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0C75F-B0BB-4866-A473-1E426AAD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00350"/>
            <a:ext cx="1333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071D90-FBD4-478B-BE07-D2B7E642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333625"/>
            <a:ext cx="12192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444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10DEAE-D35A-4C20-B5DC-9D9073D7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4479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AR labels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70D8C3-B0AA-4156-8B3D-4D245D71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771775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1500000"/>
              </a:lnSpc>
              <a:buNone/>
              <a:defRPr sz="8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57383"/>
                </a:solidFill>
                <a:latin typeface="Aptos"/>
                <a:ea typeface="Aptos"/>
                <a:cs typeface="Aptos"/>
              </a:rPr>
              <a:t>Anchor overlay</a:t>
            </a:r>
          </a:p>
          <a:p xmlns:a="http://schemas.openxmlformats.org/drawingml/2006/main">
            <a:pPr algn="ctr">
              <a:lnSpc>
                <a:spcPct val="11500000"/>
              </a:lnSpc>
              <a:buNone/>
              <a:defRPr sz="8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57383"/>
                </a:solidFill>
                <a:latin typeface="Aptos"/>
                <a:ea typeface="Aptos"/>
                <a:cs typeface="Aptos"/>
              </a:rPr>
              <a:t>Subtitle + Hide/Show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B78CE6-0FD8-4392-8ECC-B8045E5F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Contracts: pipeline_request / pipeline_response / ocr / translate schemas</a:t>
            </a:r>
          </a:p>
        </p:txBody>
      </p:sp>
    </p:spTree>
    <p:extLst>
      <p:ext uri="{BB962C8B-B14F-4D97-AF65-F5344CB8AC3E}">
        <p14:creationId xmlns:p14="http://schemas.microsoft.com/office/powerpoint/2010/main" val="3892318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89437D-DA88-4013-9DFB-896B3024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6D15D-7BE5-4683-8122-EB848AA3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TRẠNG THÁI MAIN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63941-0833-4AC2-B3D4-2F0BE1F4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Repo hiện đã là Unity project hoàn chỉnh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F1EA3-D5B0-47CA-BCC8-4B68C7D9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2000000"/>
              </a:lnSpc>
              <a:buNone/>
              <a:defRPr sz="11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657383"/>
                </a:solidFill>
                <a:latin typeface="Aptos"/>
                <a:ea typeface="Aptos"/>
                <a:cs typeface="Aptos"/>
              </a:rPr>
              <a:t>Main có project Unity ở root, backend Flask, contract schema, sample frame, test pipeline và luồng speech/note/Gemini.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CDC79-0AF4-49DF-80DD-2A98D2E1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57383"/>
                </a:solidFill>
                <a:latin typeface="Aptos"/>
                <a:ea typeface="Aptos"/>
                <a:cs typeface="Aptos"/>
              </a:rPr>
              <a:t>AR Lecture Assistant | Unity + Flask + ARCore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EE1E9-2531-4ADE-B922-EA4595E9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815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84724-A32C-4E1A-AC77-04584426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3837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46FA2-1BFA-45C2-8B7E-4278B51F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Assets/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A63B1-715C-440F-AE0F-DA86DA1D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Scene chính, AR scripts, UI,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E0F25-BBA7-4CB8-ABCF-16B03CEB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95500"/>
            <a:ext cx="223837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807DB-25D4-4648-BFCF-15E90396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09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backend/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650BD-C13C-4B07-8648-2A370D94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669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Flask API, OCR, speech, translation, Gemini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0B2BF-3592-4B2F-9EE0-AC5853B0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223837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5A9A5-A8CA-434F-8F27-FDAA73F4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contracts/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8E273-4721-4610-BDF7-3B5F793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669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Schema request/response cho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07056-0F94-4D1F-A4F2-7227EA60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23837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4A4F5-DD2C-438F-9A05-B741B46B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samples/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EF9F8-CD58-46CD-89C8-E4FFDC5D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Ảnh slide mẫu và expected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893B8-9137-4B34-B2C1-614FA05E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62300"/>
            <a:ext cx="223837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24F27-8D0B-43EB-B769-30E46327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76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scripts/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CA2B6-AE07-44E2-A5F2-41463596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337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Run backend, test, post sample frame</a:t>
            </a:r>
          </a:p>
        </p:txBody>
      </p:sp>
    </p:spTree>
    <p:extLst>
      <p:ext uri="{BB962C8B-B14F-4D97-AF65-F5344CB8AC3E}">
        <p14:creationId xmlns:p14="http://schemas.microsoft.com/office/powerpoint/2010/main" val="1648586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33BBB-0CFF-4EBB-8EB6-E574753E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BCA1E-70F9-456C-97C5-FACC1027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TÍNH NĂNG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7DA73-1FE7-4042-95CE-67E86006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MVP đã có đủ đường đi demo từ camera đến bản dịch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8C8BE-8D2B-48B9-AE5B-E93DC695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2000000"/>
              </a:lnSpc>
              <a:buNone/>
              <a:defRPr sz="11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657383"/>
                </a:solidFill>
                <a:latin typeface="Aptos"/>
                <a:ea typeface="Aptos"/>
                <a:cs typeface="Aptos"/>
              </a:rPr>
              <a:t>Các chức năng chính được thiết kế để demo được cả khi dùng mock provider lẫn khi nối OCR/translation thật.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B5D40-3CA8-4EA0-97C2-825FC0F6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57383"/>
                </a:solidFill>
                <a:latin typeface="Aptos"/>
                <a:ea typeface="Aptos"/>
                <a:cs typeface="Aptos"/>
              </a:rPr>
              <a:t>AR Lecture Assistant | Unity + Flask + ARCore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7A7F6-B621-494F-9EB6-96DBF806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815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88B4D-389F-47A3-8ADC-E963429D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714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5C7A1-8553-4006-AF56-5E4303D5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3714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755EA-52FC-4186-9579-3A31F7AB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Slide translation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03F1E-2046-41DA-9640-BB70D1A5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3500000"/>
              </a:lnSpc>
              <a:buNone/>
              <a:defRPr sz="10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4212B"/>
                </a:solidFill>
                <a:latin typeface="Aptos"/>
                <a:ea typeface="Aptos"/>
                <a:cs typeface="Aptos"/>
              </a:rPr>
              <a:t>• Quét slide/bảng và đặt translation overlay</a:t>
            </a:r>
          </a:p>
          <a:p xmlns:a="http://schemas.openxmlformats.org/drawingml/2006/main">
            <a:pPr algn="l">
              <a:lnSpc>
                <a:spcPct val="13500000"/>
              </a:lnSpc>
              <a:buNone/>
              <a:defRPr sz="10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4212B"/>
                </a:solidFill>
                <a:latin typeface="Aptos"/>
                <a:ea typeface="Aptos"/>
                <a:cs typeface="Aptos"/>
              </a:rPr>
              <a:t>• Giữ nguyên công thức toán khi dịch</a:t>
            </a:r>
          </a:p>
          <a:p xmlns:a="http://schemas.openxmlformats.org/drawingml/2006/main">
            <a:pPr algn="l">
              <a:lnSpc>
                <a:spcPct val="13500000"/>
              </a:lnSpc>
              <a:buNone/>
              <a:defRPr sz="10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4212B"/>
                </a:solidFill>
                <a:latin typeface="Aptos"/>
                <a:ea typeface="Aptos"/>
                <a:cs typeface="Aptos"/>
              </a:rPr>
              <a:t>• Gộp block OCR theo dòng để dễ đọc</a:t>
            </a:r>
          </a:p>
          <a:p xmlns:a="http://schemas.openxmlformats.org/drawingml/2006/main">
            <a:pPr algn="l">
              <a:lnSpc>
                <a:spcPct val="13500000"/>
              </a:lnSpc>
              <a:buNone/>
              <a:defRPr sz="10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4212B"/>
                </a:solidFill>
                <a:latin typeface="Aptos"/>
                <a:ea typeface="Aptos"/>
                <a:cs typeface="Aptos"/>
              </a:rPr>
              <a:t>• Subtitle cho dòng dịch chính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50566-BCB3-4DA9-BF93-7912A642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Interaction + speech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5A068-D951-42A8-9569-5665ACDA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670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3500000"/>
              </a:lnSpc>
              <a:buNone/>
              <a:defRPr sz="10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4212B"/>
                </a:solidFill>
                <a:latin typeface="Aptos"/>
                <a:ea typeface="Aptos"/>
                <a:cs typeface="Aptos"/>
              </a:rPr>
              <a:t>• Hide VN / Show VN để bật tắt bản dịch</a:t>
            </a:r>
          </a:p>
          <a:p xmlns:a="http://schemas.openxmlformats.org/drawingml/2006/main">
            <a:pPr algn="l">
              <a:lnSpc>
                <a:spcPct val="13500000"/>
              </a:lnSpc>
              <a:buNone/>
              <a:defRPr sz="10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4212B"/>
                </a:solidFill>
                <a:latin typeface="Aptos"/>
                <a:ea typeface="Aptos"/>
                <a:cs typeface="Aptos"/>
              </a:rPr>
              <a:t>• Speech transcript, note, summary, ask-text</a:t>
            </a:r>
          </a:p>
          <a:p xmlns:a="http://schemas.openxmlformats.org/drawingml/2006/main">
            <a:pPr algn="l">
              <a:lnSpc>
                <a:spcPct val="13500000"/>
              </a:lnSpc>
              <a:buNone/>
              <a:defRPr sz="10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4212B"/>
                </a:solidFill>
                <a:latin typeface="Aptos"/>
                <a:ea typeface="Aptos"/>
                <a:cs typeface="Aptos"/>
              </a:rPr>
              <a:t>• Mock và real provider cho backend</a:t>
            </a:r>
          </a:p>
          <a:p xmlns:a="http://schemas.openxmlformats.org/drawingml/2006/main">
            <a:pPr algn="l">
              <a:lnSpc>
                <a:spcPct val="13500000"/>
              </a:lnSpc>
              <a:buNone/>
              <a:defRPr sz="10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4212B"/>
                </a:solidFill>
                <a:latin typeface="Aptos"/>
                <a:ea typeface="Aptos"/>
                <a:cs typeface="Aptos"/>
              </a:rPr>
              <a:t>• App vừa được khóa xoay ngang cho demo</a:t>
            </a:r>
          </a:p>
        </p:txBody>
      </p:sp>
    </p:spTree>
    <p:extLst>
      <p:ext uri="{BB962C8B-B14F-4D97-AF65-F5344CB8AC3E}">
        <p14:creationId xmlns:p14="http://schemas.microsoft.com/office/powerpoint/2010/main" val="1316772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F8D35A-DBFF-4836-A6A2-0B2FF46D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9D212-F048-44F0-908D-40062FBE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KẾ HOẠCH NHÓM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754AC-9143-4592-BB35-77F65414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5 luồng việc bám theo kiến trúc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5512C-DB65-4098-9D9D-E5CB1B7D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2000000"/>
              </a:lnSpc>
              <a:buNone/>
              <a:defRPr sz="11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657383"/>
                </a:solidFill>
                <a:latin typeface="Aptos"/>
                <a:ea typeface="Aptos"/>
                <a:cs typeface="Aptos"/>
              </a:rPr>
              <a:t>Kế hoạch cũ chia rõ AR/Unity, OCR, Translation + Formula, UI/UX, Backend + Integration để giảm phụ thuộc giữa các thành viên.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4EE6B-56AA-47EB-B6A0-3BE5FF4D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57383"/>
                </a:solidFill>
                <a:latin typeface="Aptos"/>
                <a:ea typeface="Aptos"/>
                <a:cs typeface="Aptos"/>
              </a:rPr>
              <a:t>AR Lecture Assistant | Unity + Flask + ARCore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BC1A6-4068-4641-9126-69073992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815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259DA-AE64-4D37-960F-F1D78287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A6D95-EF71-44FE-85C4-426228F6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Unity 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0F264-AF1F-439B-B555-4477AEEF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050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57383"/>
                </a:solidFill>
                <a:latin typeface="Aptos"/>
                <a:ea typeface="Aptos"/>
                <a:cs typeface="Aptos"/>
              </a:rPr>
              <a:t>Scene AR, Android build, anchor/label stability, plane fail handling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B888A-B01C-469B-9D6A-962A1650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050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29B26-47C1-4469-B6F0-390CAA70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F0CE1-281D-4755-B688-0A29E5D2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OCR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740FF-CAE7-4E40-8DC7-88DF615A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574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57383"/>
                </a:solidFill>
                <a:latin typeface="Aptos"/>
                <a:ea typeface="Aptos"/>
                <a:cs typeface="Aptos"/>
              </a:rPr>
              <a:t>Thay mock OCR bằng OCR thật, chuẩn hóa bbox, test ảnh slide/bảng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D9674-E046-4065-A085-2B52FCC2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89515-66E4-4D28-BA92-67D1293C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19BE5-5729-4310-9B53-C760F6F5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Translation + Formula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9CDB1-8F7A-4CA8-AB32-BB8AA569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57383"/>
                </a:solidFill>
                <a:latin typeface="Aptos"/>
                <a:ea typeface="Aptos"/>
                <a:cs typeface="Aptos"/>
              </a:rPr>
              <a:t>Glossary AI/ML, giữ công thức, dịch batch và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50F16-002F-4586-A513-AA28D6B2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4D8DF-83B6-4985-945D-9FBEFE45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36AB3-76A6-42F6-A472-00BFD5D1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UI/UX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D0FFF-03B6-437A-BA34-0D0F94FA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57383"/>
                </a:solidFill>
                <a:latin typeface="Aptos"/>
                <a:ea typeface="Aptos"/>
                <a:cs typeface="Aptos"/>
              </a:rPr>
              <a:t>Scan/Clear/Status/Debug UI, label dễ đọc, loading/error states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B3495F-9D4B-4019-B627-1C68DBB7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E67263-9204-487B-812D-EB33B464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6AA7A-21A1-45C0-B694-E5FA9536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Backend + Integration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9DF14-B663-44FB-AFD6-E9C2476B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148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57383"/>
                </a:solidFill>
                <a:latin typeface="Aptos"/>
                <a:ea typeface="Aptos"/>
                <a:cs typeface="Aptos"/>
              </a:rPr>
              <a:t>Contract ổn định, integration test, deploy/logging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29DD5-2113-4B04-88A6-FCA44573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</p:spTree>
    <p:extLst>
      <p:ext uri="{BB962C8B-B14F-4D97-AF65-F5344CB8AC3E}">
        <p14:creationId xmlns:p14="http://schemas.microsoft.com/office/powerpoint/2010/main" val="7466120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8481E0-6779-4B8F-B48E-62B9B382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59984-9F26-4F63-8338-51FC8250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KỊCH BẢN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6A2C3-2F41-4F22-ABE4-F4264FA9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Một phút để chứng minh overlay bám vào không gian thật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A6412-FBB3-41F4-8968-4A7C9684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2000000"/>
              </a:lnSpc>
              <a:buNone/>
              <a:defRPr sz="11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657383"/>
                </a:solidFill>
                <a:latin typeface="Aptos"/>
                <a:ea typeface="Aptos"/>
                <a:cs typeface="Aptos"/>
              </a:rPr>
              <a:t>Demo ưu tiên mock mode để tránh phụ thuộc API key; khi backend thật lỗi vẫn có thể chứng minh AR overlay.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D6CDD-A5F5-46C8-AC88-C7B6D9AF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57383"/>
                </a:solidFill>
                <a:latin typeface="Aptos"/>
                <a:ea typeface="Aptos"/>
                <a:cs typeface="Aptos"/>
              </a:rPr>
              <a:t>AR Lecture Assistant | Unity + Flask + ARCore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E651B-CB25-4488-B11F-AC5BDCA3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815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41ABA-0D6D-45EC-80A9-2788FE8E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809B0-79E4-407C-8F86-B4184081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92606-B193-440E-975C-E3CB14D3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146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0500000"/>
              </a:lnSpc>
              <a:buNone/>
              <a:defRPr sz="788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14212B"/>
                </a:solidFill>
                <a:latin typeface="Aptos"/>
                <a:ea typeface="Aptos"/>
                <a:cs typeface="Aptos"/>
              </a:rPr>
              <a:t>Mở app 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1FDD4-76C8-4C38-8AA6-7C6C6950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47975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42D67-3DC8-4345-8696-5C14FB19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00350"/>
            <a:ext cx="1333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48EA2-1480-419D-8295-E9323891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650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A7A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7CC28-5D40-4827-8C9C-1B8799FE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09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AC4FD-4817-43D7-9210-E21ECD5C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9146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0500000"/>
              </a:lnSpc>
              <a:buNone/>
              <a:defRPr sz="788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14212B"/>
                </a:solidFill>
                <a:latin typeface="Aptos"/>
                <a:ea typeface="Aptos"/>
                <a:cs typeface="Aptos"/>
              </a:rPr>
              <a:t>Lia camera qua slide/bảng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7E276-6E69-4BD7-AA74-E091EFF3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47975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75D2A-1E1C-45F5-9A03-95142E25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800350"/>
            <a:ext cx="1333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483DC-5ED6-4F29-AE77-E8294E84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1083C-3590-4588-B19B-F0B8CB5C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9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17FEC2-2C5B-4707-BA57-A25C788E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146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0500000"/>
              </a:lnSpc>
              <a:buNone/>
              <a:defRPr sz="788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14212B"/>
                </a:solidFill>
                <a:latin typeface="Aptos"/>
                <a:ea typeface="Aptos"/>
                <a:cs typeface="Aptos"/>
              </a:rPr>
              <a:t>Scan để nhận plane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A1FB3-FBE4-45DB-A670-ACDAC399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47975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54027-7D8D-4FD9-9593-3E157C5A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800350"/>
            <a:ext cx="1333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2746D-C497-4B6B-B42E-BF1E34AF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7650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A7A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0578F-6976-49E1-A78B-41B87E28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09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841C4-7FB2-44C2-900E-94AA774B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9146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0500000"/>
              </a:lnSpc>
              <a:buNone/>
              <a:defRPr sz="788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14212B"/>
                </a:solidFill>
                <a:latin typeface="Aptos"/>
                <a:ea typeface="Aptos"/>
                <a:cs typeface="Aptos"/>
              </a:rPr>
              <a:t>Translate để gọi pipeline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1DD01-2651-4AB6-93A5-2ED37FEA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47975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213325-8815-4B46-A8D1-8F3A7915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00350"/>
            <a:ext cx="1333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A2DE69-9F59-468B-A014-805A51F1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1787C-4489-4428-AA1B-A159315C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116DC-3810-4E13-9765-5E7EDADC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9146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0500000"/>
              </a:lnSpc>
              <a:buNone/>
              <a:defRPr sz="788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14212B"/>
                </a:solidFill>
                <a:latin typeface="Aptos"/>
                <a:ea typeface="Aptos"/>
                <a:cs typeface="Aptos"/>
              </a:rPr>
              <a:t>Label Việt xuất hiện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394932-4987-429F-B522-BA706B9A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47975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FEA154-37BF-4717-B1DA-5E6DB1D8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00350"/>
            <a:ext cx="1333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9FBBF0-0386-46A8-83F8-5B6D4C0F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A7A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2485B0-3459-4027-B00D-A2E35B24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09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31F9C1-BBDD-4481-A54F-C3A6402B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9146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0500000"/>
              </a:lnSpc>
              <a:buNone/>
              <a:defRPr sz="788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14212B"/>
                </a:solidFill>
                <a:latin typeface="Aptos"/>
                <a:ea typeface="Aptos"/>
                <a:cs typeface="Aptos"/>
              </a:rPr>
              <a:t>Di chuyển máy để kiểm tra anchor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69816-8A76-47E3-87D1-9C53B2F7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47975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69769A-FEC6-46F4-80D5-9D07473E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00350"/>
            <a:ext cx="1333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8E2EA"/>
          </a:solidFill>
          <a:ln xmlns:a="http://schemas.openxmlformats.org/drawingml/2006/main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33AE89-8E81-4EA8-A279-6DEF5F2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7650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B64A06-95B7-43E6-B2C3-8C774A32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96639F-4020-4756-8B21-6EB630CB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9146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lnSpc>
                <a:spcPct val="10500000"/>
              </a:lnSpc>
              <a:buNone/>
              <a:defRPr sz="788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14212B"/>
                </a:solidFill>
                <a:latin typeface="Aptos"/>
                <a:ea typeface="Aptos"/>
                <a:cs typeface="Aptos"/>
              </a:rPr>
              <a:t>Hide/Show VN hoặc Clear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4D5827-E50C-4787-A7FF-6C635699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Fallback: bật useMockClient = true để demo AR overlay không cần backend.</a:t>
            </a:r>
          </a:p>
        </p:txBody>
      </p:sp>
    </p:spTree>
    <p:extLst>
      <p:ext uri="{BB962C8B-B14F-4D97-AF65-F5344CB8AC3E}">
        <p14:creationId xmlns:p14="http://schemas.microsoft.com/office/powerpoint/2010/main" val="18362320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DFC993-20FA-4EEA-B0C0-DF7E7626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93A8C-5639-4FB6-8DBD-A85E37DE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RỦI RO TÍCH HỢP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1E989-67A1-45AD-B1B4-C04E0295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Các lỗi demo cần test trước khi lên lớp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44987-1A5D-4850-8771-643D4ABD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2000000"/>
              </a:lnSpc>
              <a:buNone/>
              <a:defRPr sz="1125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657383"/>
                </a:solidFill>
                <a:latin typeface="Aptos"/>
                <a:ea typeface="Aptos"/>
                <a:cs typeface="Aptos"/>
              </a:rPr>
              <a:t>Checklist nhóm tập trung vào những điểm dễ làm hỏng trải nghiệm: plane detection, mạng LAN, OCR rỗng, bbox sai và label tràn.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54CBF-57B0-4424-A796-4983318E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57383"/>
                </a:solidFill>
                <a:latin typeface="Aptos"/>
                <a:ea typeface="Aptos"/>
                <a:cs typeface="Aptos"/>
              </a:rPr>
              <a:t>AR Lecture Assistant | Unity + Flask + ARCore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E4050-DBFA-453F-9C28-43EC776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815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5738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928AD-90EA-40B3-AECE-F6EDAD56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42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444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10270-EAD1-4ADC-BFC8-DCA5496B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Thiết bị / ARCore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26D24-BA95-4F63-87D1-B041C05A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000000"/>
              </a:lnSpc>
              <a:buNone/>
              <a:defRPr sz="863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63">
                <a:solidFill>
                  <a:srgbClr val="657383"/>
                </a:solidFill>
                <a:latin typeface="Aptos"/>
                <a:ea typeface="Aptos"/>
                <a:cs typeface="Aptos"/>
              </a:rPr>
              <a:t>Máy test cần cài được Google Play Services for AR; nếu không phải đổi thiết bị.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18EDB-E70D-4629-A854-F9A385B6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342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1848C-FD13-46F7-91BD-23C43C1A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907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Backend / 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ABC21-C21D-4B17-A596-E942A139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384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000000"/>
              </a:lnSpc>
              <a:buNone/>
              <a:defRPr sz="863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63">
                <a:solidFill>
                  <a:srgbClr val="657383"/>
                </a:solidFill>
                <a:latin typeface="Aptos"/>
                <a:ea typeface="Aptos"/>
                <a:cs typeface="Aptos"/>
              </a:rPr>
              <a:t>Điện thoại phải gọi được IP laptop; health check cần pass trước demo.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0809B-B2AF-474C-A3E6-8DC0B0AB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342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6AA5A-CEA8-4BAA-9A66-C3465AAC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OCR / bbox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C66AD-CD40-48F3-944B-DF9CB185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000000"/>
              </a:lnSpc>
              <a:buNone/>
              <a:defRPr sz="863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63">
                <a:solidFill>
                  <a:srgbClr val="657383"/>
                </a:solidFill>
                <a:latin typeface="Aptos"/>
                <a:ea typeface="Aptos"/>
                <a:cs typeface="Aptos"/>
              </a:rPr>
              <a:t>OCR trả rỗng hoặc bbox ngoài ảnh sẽ khiến AR label không đặt được.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41A4B-EBA5-4CA3-A63F-1E7C3E1C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76575"/>
            <a:ext cx="342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A7A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32BC4-F0B9-4D3A-81E6-FAC37794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908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8A7A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A7A3"/>
                </a:solidFill>
                <a:latin typeface="Aptos"/>
                <a:ea typeface="Aptos"/>
                <a:cs typeface="Aptos"/>
              </a:rPr>
              <a:t>UI readability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23575-E1ED-4B32-9FDF-024C19EB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38525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000000"/>
              </a:lnSpc>
              <a:buNone/>
              <a:defRPr sz="863">
                <a:solidFill>
                  <a:srgbClr val="657383"/>
                </a:solidFill>
                <a:latin typeface="Aptos"/>
                <a:ea typeface="Aptos"/>
                <a:cs typeface="Aptos"/>
              </a:defRPr>
            </a:pPr>
            <a:r>
              <a:rPr sz="863">
                <a:solidFill>
                  <a:srgbClr val="657383"/>
                </a:solidFill>
                <a:latin typeface="Aptos"/>
                <a:ea typeface="Aptos"/>
                <a:cs typeface="Aptos"/>
              </a:rPr>
              <a:t>Dịch quá dài có thể tràn label; cần font/scale và Hide/Show rõ ràng.</a:t>
            </a:r>
          </a:p>
        </p:txBody>
      </p:sp>
    </p:spTree>
    <p:extLst>
      <p:ext uri="{BB962C8B-B14F-4D97-AF65-F5344CB8AC3E}">
        <p14:creationId xmlns:p14="http://schemas.microsoft.com/office/powerpoint/2010/main" val="18966946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93E5DB-9246-417C-B670-A71457B2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FEC29-AFEE-4A56-A988-33468035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26E3A-2893-459B-AE84-5AE535CB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Từ MVP ổn định đến bản demo thuyết phục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780C4-960B-4BE2-A917-3CC73739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48C80-5C32-4D98-AC6E-D5D8E0F4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90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Chạy integration test mỗi ngày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D2D9A-F95A-4EDB-8DF2-0665BA5D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574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9FB2BF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9FB2BF"/>
                </a:solidFill>
                <a:latin typeface="Aptos"/>
                <a:ea typeface="Aptos"/>
                <a:cs typeface="Aptos"/>
              </a:rPr>
              <a:t>Health, /pipeline, Unity LAN và mock fallback.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748FB-DFFB-44EF-95A6-79AA2BD7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4E875-613A-4918-B728-DC7D8662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Nối OCR/Translate thật có kiểm soát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677A8-2961-4FBF-8747-DD341980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05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9FB2BF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9FB2BF"/>
                </a:solidFill>
                <a:latin typeface="Aptos"/>
                <a:ea typeface="Aptos"/>
                <a:cs typeface="Aptos"/>
              </a:rPr>
              <a:t>Tesseract hoặc PaddleOCR; Google/Gemini qua .env.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83794-0E55-41E2-AB0C-07E9A438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3C0F0-D6FA-4054-9677-799BDC9A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Tăng độ chính xác label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F0B87-4F8F-4264-B851-A98624D6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9FB2BF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9FB2BF"/>
                </a:solidFill>
                <a:latin typeface="Aptos"/>
                <a:ea typeface="Aptos"/>
                <a:cs typeface="Aptos"/>
              </a:rPr>
              <a:t>Mapping bbox vào plane, tránh overlap, scale theo khoảng cách.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2A7B7-7402-4A77-9573-FEBB679E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B0649-1178-4727-AAE3-9EC3B845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Đóng gói demo Android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C3FC1-3D90-46FC-BD4E-1D304DA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9FB2BF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9FB2BF"/>
                </a:solidFill>
                <a:latin typeface="Aptos"/>
                <a:ea typeface="Aptos"/>
                <a:cs typeface="Aptos"/>
              </a:rPr>
              <a:t>Khóa landscape, cấu hình IP backend, script 1 phút.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FB580-B0F6-461F-8629-48C8400C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D5E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5E1E8"/>
                </a:solidFill>
                <a:latin typeface="Aptos"/>
                <a:ea typeface="Aptos"/>
                <a:cs typeface="Aptos"/>
              </a:rPr>
              <a:t>Kết quả mong muốn: demo chạy 3 lần liên tiếp không crash, label đọc được, và có fallback khi backend/provider lỗi.</a:t>
            </a:r>
          </a:p>
        </p:txBody>
      </p:sp>
    </p:spTree>
    <p:extLst>
      <p:ext uri="{BB962C8B-B14F-4D97-AF65-F5344CB8AC3E}">
        <p14:creationId xmlns:p14="http://schemas.microsoft.com/office/powerpoint/2010/main" val="84472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2026-05-31T16:27:32.4490000Z</dcterms:created>
  <dcterms:modified xsi:type="dcterms:W3CDTF">2026-05-31T16:27:32.4490000Z</dcterms:modified>
</coreProperties>
</file>